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763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93192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76" y="947776"/>
            <a:ext cx="710489" cy="7104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Challenges in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Drone Imaging Systems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Analysis of Environmental, Sensor, and Operational Constraints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1417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Drone Imaging System?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92808"/>
            <a:ext cx="534924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842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9842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Weather Challenges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534924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511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5511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&amp; Image Quality Limitations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534924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181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11810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 &amp; Vibration Issues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593592"/>
            <a:ext cx="534924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850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6850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Geolocation Accuracy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34924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892808"/>
            <a:ext cx="534924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9842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19842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Battery Constraints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63640" y="2459736"/>
            <a:ext cx="534924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026664"/>
            <a:ext cx="534924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1181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311810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Outlook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3593592"/>
            <a:ext cx="534924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Imaging Systems — Real-World Challenges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Drone Imaging System?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drone imaging system captures, processes, and transmits visual data (RGB, thermal, multispectral, or LiDAR) from an aerial platform. Its performance depends on every stage of the pipeline below — a weakness at any single stage limits the final output quality.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96112" y="251460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7612" y="2715768"/>
            <a:ext cx="731520" cy="731520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10" y="2810866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4747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88920" y="3209544"/>
            <a:ext cx="219456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6"/>
          <p:cNvSpPr/>
          <p:nvPr/>
        </p:nvSpPr>
        <p:spPr>
          <a:xfrm>
            <a:off x="3026664" y="251460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98164" y="2715768"/>
            <a:ext cx="731520" cy="731520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262" y="2810866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26664" y="34747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919472" y="3209544"/>
            <a:ext cx="219456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4" name="Shape 10"/>
          <p:cNvSpPr/>
          <p:nvPr/>
        </p:nvSpPr>
        <p:spPr>
          <a:xfrm>
            <a:off x="5157216" y="251460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28716" y="2715768"/>
            <a:ext cx="731520" cy="731520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3814" y="2810866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7216" y="34747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050024" y="3209544"/>
            <a:ext cx="219456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9" name="Shape 14"/>
          <p:cNvSpPr/>
          <p:nvPr/>
        </p:nvSpPr>
        <p:spPr>
          <a:xfrm>
            <a:off x="7287768" y="251460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859268" y="2715768"/>
            <a:ext cx="731520" cy="731520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4366" y="2810866"/>
            <a:ext cx="541325" cy="5413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7768" y="34747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180576" y="3209544"/>
            <a:ext cx="219456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4" name="Shape 18"/>
          <p:cNvSpPr/>
          <p:nvPr/>
        </p:nvSpPr>
        <p:spPr>
          <a:xfrm>
            <a:off x="9418320" y="251460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989820" y="2715768"/>
            <a:ext cx="731520" cy="731520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4918" y="2810866"/>
            <a:ext cx="541325" cy="5413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18320" y="34747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Storage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introduces its own real-world constraints — explored individually in the following sections.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Imaging Systems — Real-World Challenges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Categories of Real-World Challenges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0644" y="13716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/>
        </p:spPr>
      </p:sp>
      <p:sp>
        <p:nvSpPr>
          <p:cNvPr id="4" name="Shape 2"/>
          <p:cNvSpPr/>
          <p:nvPr/>
        </p:nvSpPr>
        <p:spPr>
          <a:xfrm>
            <a:off x="1499616" y="1627632"/>
            <a:ext cx="768096" cy="768096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468" y="1727484"/>
            <a:ext cx="568391" cy="5683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2084" y="25146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Weather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87852" y="13716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/>
        </p:spPr>
      </p:sp>
      <p:sp>
        <p:nvSpPr>
          <p:cNvPr id="8" name="Shape 5"/>
          <p:cNvSpPr/>
          <p:nvPr/>
        </p:nvSpPr>
        <p:spPr>
          <a:xfrm>
            <a:off x="4306824" y="1627632"/>
            <a:ext cx="768096" cy="768096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676" y="1727484"/>
            <a:ext cx="568391" cy="5683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9292" y="25146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95060" y="13716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/>
        </p:spPr>
      </p:sp>
      <p:sp>
        <p:nvSpPr>
          <p:cNvPr id="12" name="Shape 8"/>
          <p:cNvSpPr/>
          <p:nvPr/>
        </p:nvSpPr>
        <p:spPr>
          <a:xfrm>
            <a:off x="7114032" y="1627632"/>
            <a:ext cx="768096" cy="768096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884" y="1727484"/>
            <a:ext cx="568391" cy="5683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86500" y="25146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Vibration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9002268" y="13716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/>
        </p:spPr>
      </p:sp>
      <p:sp>
        <p:nvSpPr>
          <p:cNvPr id="16" name="Shape 11"/>
          <p:cNvSpPr/>
          <p:nvPr/>
        </p:nvSpPr>
        <p:spPr>
          <a:xfrm>
            <a:off x="9921240" y="1627632"/>
            <a:ext cx="768096" cy="768096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1092" y="1727484"/>
            <a:ext cx="568391" cy="5683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93708" y="25146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72084" y="3653028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/>
        </p:spPr>
      </p:sp>
      <p:sp>
        <p:nvSpPr>
          <p:cNvPr id="24" name="Shape 17"/>
          <p:cNvSpPr/>
          <p:nvPr/>
        </p:nvSpPr>
        <p:spPr>
          <a:xfrm>
            <a:off x="1591056" y="3867912"/>
            <a:ext cx="768096" cy="768096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0908" y="3967764"/>
            <a:ext cx="568391" cy="56839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3524" y="47548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Imaging Systems — Real-World Challenges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56418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54480" y="713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&amp; Weather Conditions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94360" y="177393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69164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Gusts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002536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Destabilize flight path and framing, especially for small consumer-grade drones with limited thrust margin.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270662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24328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Light / Harsh Sun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8680" y="2935224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 or over-exposed imagery; small sensors struggle with wide dynamic range outdoors.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363931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557016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Rain, Fog &amp; Haze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68680" y="3867912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lens clarity, scatter light, and can damage non-weatherproofed hardware.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457200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489704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Extremes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68680" y="4800600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 sensor noise performance and reduce battery efficiency mid-flight.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20840" y="1691640"/>
            <a:ext cx="493776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</p:spPr>
      </p:sp>
      <p:sp>
        <p:nvSpPr>
          <p:cNvPr id="19" name="Shape 16"/>
          <p:cNvSpPr/>
          <p:nvPr/>
        </p:nvSpPr>
        <p:spPr>
          <a:xfrm>
            <a:off x="8686800" y="2011680"/>
            <a:ext cx="1005840" cy="1005840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559" y="2142439"/>
            <a:ext cx="744322" cy="74432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95160" y="3154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Impact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086600" y="356616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aborted or degraded-quality missions trace back to unpredicted wind gusts or sudden lighting changes during flight — factors that are hard to forecast precisely at low altitude.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Imaging Systems — Real-World Challenges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56418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54480" y="713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&amp; Image Quality Limitations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94360" y="177393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69164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Blur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002536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and platform movement smear fine detail, especially at slower shutter speeds.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270662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24328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Dynamic Range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8680" y="2935224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CMOS sensors clip highlights/shadows in high-contrast outdoor scenes.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363931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557016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68680" y="3867912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Low-light captures (dawn, dusk, indoor inspection) introduce grain that degrades analysis accuracy.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457200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489704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Focal Length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68680" y="4800600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optical zoom, forcing closer flight or digital zoom that sacrifices resolution.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20840" y="1691640"/>
            <a:ext cx="493776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</p:spPr>
      </p:sp>
      <p:sp>
        <p:nvSpPr>
          <p:cNvPr id="19" name="Text 16"/>
          <p:cNvSpPr/>
          <p:nvPr/>
        </p:nvSpPr>
        <p:spPr>
          <a:xfrm>
            <a:off x="6995160" y="19476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Ideal vs. Real-World Capture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995160" y="251460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03820" y="2743200"/>
            <a:ext cx="640080" cy="640080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030" y="2826410"/>
            <a:ext cx="473659" cy="47365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995160" y="34747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(Lab Conditions)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7086600" y="39776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well-exposed, full dynamic range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9326880" y="251460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0035540" y="2743200"/>
            <a:ext cx="640080" cy="640080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8750" y="2826410"/>
            <a:ext cx="473659" cy="47365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326880" y="34747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(Field Flight)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9418320" y="39776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Blur, noise, clipped highlights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Imaging Systems — Real-World Challenges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56418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54480" y="713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Stabilization &amp; Vibration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94360" y="177393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69164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&amp; Propeller Vibration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002536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micro-vibrations transmit through the frame directly into the camera mount.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270662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24328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Gimbal Drift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8680" y="2935224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gimbals compensate for tilt/roll but have a limited correction range and can lag during fast maneuvers.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363931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557016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Shutter Distortion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68680" y="3867912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sensors scan line-by-line, producing skewed ('jello') frames during rapid motion.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457200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489704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Wind-Induced Jitter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68680" y="4800600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Gusts cause rapid attitude corrections that outpace gimbal compensation.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20840" y="1691640"/>
            <a:ext cx="493776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</p:spPr>
      </p:sp>
      <p:sp>
        <p:nvSpPr>
          <p:cNvPr id="19" name="Text 16"/>
          <p:cNvSpPr/>
          <p:nvPr/>
        </p:nvSpPr>
        <p:spPr>
          <a:xfrm>
            <a:off x="6995160" y="19476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3-Axis Gimbal Concept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8001000" y="2468880"/>
            <a:ext cx="2377440" cy="2377440"/>
          </a:xfrm>
          <a:prstGeom prst="ellipse">
            <a:avLst/>
          </a:prstGeom>
          <a:ln w="25400">
            <a:solidFill>
              <a:srgbClr val="065A8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48472" y="2816352"/>
            <a:ext cx="1682496" cy="1682496"/>
          </a:xfrm>
          <a:prstGeom prst="ellipse">
            <a:avLst/>
          </a:prstGeom>
          <a:ln w="25400">
            <a:solidFill>
              <a:srgbClr val="065A8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95944" y="3163824"/>
            <a:ext cx="987552" cy="987552"/>
          </a:xfrm>
          <a:prstGeom prst="ellipse">
            <a:avLst/>
          </a:prstGeom>
          <a:ln w="25400">
            <a:solidFill>
              <a:srgbClr val="1C729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61120" y="34290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556" y="3488436"/>
            <a:ext cx="338328" cy="33832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49440" y="4937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Roll · Yaw correction — each with a bounded compensation range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Imaging Systems — Real-World Challenges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56418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54480" y="713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 &amp; Geolocation Accuracy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94360" y="177393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69164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Multipath Error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002536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reflecting off buildings, canyons, or dense foliage introduce location error.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270662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24328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Consumer-Grade Accuracy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8680" y="2935224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GPS/GNSS accuracy of ~2-5m is often insufficient for precision mapping or asset inspection.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363931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557016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Drift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68680" y="3867912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Inertial sensors accumulate small errors over flight time, compounding positional uncertainty.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457200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489704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/ PPK Trade-off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68680" y="4800600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Centimeter-level accuracy is achievable but adds hardware cost, setup complexity, and base-station dependency.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20840" y="1691640"/>
            <a:ext cx="493776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</p:spPr>
      </p:sp>
      <p:sp>
        <p:nvSpPr>
          <p:cNvPr id="19" name="Shape 16"/>
          <p:cNvSpPr/>
          <p:nvPr/>
        </p:nvSpPr>
        <p:spPr>
          <a:xfrm>
            <a:off x="8686800" y="2011680"/>
            <a:ext cx="1005840" cy="1005840"/>
          </a:xfrm>
          <a:prstGeom prst="ellipse">
            <a:avLst/>
          </a:prstGeom>
          <a:solidFill>
            <a:srgbClr val="E8F0F6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559" y="2142439"/>
            <a:ext cx="744322" cy="74432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95160" y="3154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Comparison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086600" y="3657600"/>
            <a:ext cx="2715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GPS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9436608" y="365760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~2-5 m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086600" y="4160520"/>
            <a:ext cx="2715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GPS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9436608" y="41605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~0.5-1 m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7086600" y="4663440"/>
            <a:ext cx="2715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/ PPK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9436608" y="466344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~1-2 cm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Imaging Systems — Real-World Challenges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56418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</a:t>
            </a:r>
            <a:r>
              <a:rPr lang="en-US" sz="1100" b="1" kern="0" spc="100" dirty="0" smtClean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54480" y="713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&amp; Battery Constraints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94360" y="177393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69164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Flight Time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002536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consumer/prosumer drones fly 20-40 minutes, restricting achievable coverage area per sortie.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270662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24328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Power-Hungry Payloads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8680" y="2935224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Thermal, LiDAR, and multispectral sensors draw significant extra current, cutting endurance further.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363931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557016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Cold-Weather Losses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68680" y="3867912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battery efficiency and capacity drop sharply below 0°C, common in aerial survey seasons.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457200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489704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vs. Duration Trade-off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68680" y="4800600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batteries extend flight time but add mass, reducing maneuverability and payload capacity.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20840" y="1691640"/>
            <a:ext cx="493776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</p:spPr>
      </p:sp>
      <p:sp>
        <p:nvSpPr>
          <p:cNvPr id="19" name="Text 16"/>
          <p:cNvSpPr/>
          <p:nvPr/>
        </p:nvSpPr>
        <p:spPr>
          <a:xfrm>
            <a:off x="699516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Endurance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95160" y="26060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</a:t>
            </a:r>
            <a:endParaRPr lang="en-US" sz="6000" dirty="0"/>
          </a:p>
        </p:txBody>
      </p:sp>
      <p:sp>
        <p:nvSpPr>
          <p:cNvPr id="21" name="Text 18"/>
          <p:cNvSpPr/>
          <p:nvPr/>
        </p:nvSpPr>
        <p:spPr>
          <a:xfrm>
            <a:off x="6995160" y="35661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average flight time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(consumer/prosumer UAV)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69480" y="4343400"/>
            <a:ext cx="384048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95160" y="44805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90+ min for fixed-wing survey platforms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Imaging Systems — Real-World Challenges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Directions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imaging performance is bound by the weakest link in its pipeline — sensor, stabilization, positioning, bandwidth, power, and regulation must all be engineered together, not in isolation.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" y="23317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A2350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58775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068" y="2673340"/>
            <a:ext cx="487192" cy="487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804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onboard processing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5236" y="3867912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detection/compression reduces raw data needing transmission.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7852" y="23317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A2350"/>
          </a:solidFill>
          <a:ln/>
        </p:spPr>
      </p:sp>
      <p:sp>
        <p:nvSpPr>
          <p:cNvPr id="11" name="Shape 8"/>
          <p:cNvSpPr/>
          <p:nvPr/>
        </p:nvSpPr>
        <p:spPr>
          <a:xfrm>
            <a:off x="4361688" y="258775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276" y="2673340"/>
            <a:ext cx="487192" cy="487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5012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5G-enabled live streaming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52444" y="3867912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Higher-bandwidth links close the gap between capture and ground display.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95060" y="23317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A2350"/>
          </a:solidFill>
          <a:ln/>
        </p:spPr>
      </p:sp>
      <p:sp>
        <p:nvSpPr>
          <p:cNvPr id="16" name="Shape 12"/>
          <p:cNvSpPr/>
          <p:nvPr/>
        </p:nvSpPr>
        <p:spPr>
          <a:xfrm>
            <a:off x="7168896" y="258775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4484" y="2673340"/>
            <a:ext cx="487192" cy="487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32220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battery chemistry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59652" y="3867912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Solid-state batteries promise longer endurance and better cold-weather performance.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02268" y="23317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A2350"/>
          </a:solidFill>
          <a:ln/>
        </p:spPr>
      </p:sp>
      <p:sp>
        <p:nvSpPr>
          <p:cNvPr id="21" name="Shape 16"/>
          <p:cNvSpPr/>
          <p:nvPr/>
        </p:nvSpPr>
        <p:spPr>
          <a:xfrm>
            <a:off x="9976104" y="258775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1692" y="2673340"/>
            <a:ext cx="487192" cy="4871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39428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Swarm-based coverage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166860" y="3867912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coordinated drones offset single-platform range and endurance limits.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Imaging Systems — Real-World Challenges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545836" y="210312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482" y="2245766"/>
            <a:ext cx="811987" cy="811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4747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42062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819</Words>
  <Application>Microsoft Office PowerPoint</Application>
  <PresentationFormat>Widescreen</PresentationFormat>
  <Paragraphs>157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2</cp:revision>
  <dcterms:created xsi:type="dcterms:W3CDTF">2026-08-05T04:06:25Z</dcterms:created>
  <dcterms:modified xsi:type="dcterms:W3CDTF">2026-08-05T05:01:21Z</dcterms:modified>
</cp:coreProperties>
</file>